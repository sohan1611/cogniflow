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minutes total. Do not read the deck. The single idea: most tutors make the next question easier; we work out WHY and change the objective. Live demo at slide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asymmetry: the tutor is optimising difficulty; the student's problem is structural. This is why a bigger model does not fix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claims, each falsifiable, each demonstrable in the live run. If a judge doubts one, the event stream settles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spine. If you remember one slide, this one. The override rate is the ablation headline and the answer to 'why not just an LLM'.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§7 asks for exactly this vocabulary and for failure handling. Point at each stage on screen during the live run rather than reading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adversarial tests cover this. The strongest version of the claim: a bare string 'CORRECT' arriving from JSON is REJECTED, because is_student_evidence uses isinstance.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'did you train anything' — yes, BKT fitting via EM, and it produced a negative result on held-out data. That answer earns more trust than a fabricated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TERMINAL HERE. python run.py live. If anything fails, say so plainly and keep going — a recovered failure demonstrates the recovery path we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spine, not on the limits.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CogniFlow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tutoring agent that changes its own objective when it works out why you are failing.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4114800"/>
            <a:ext cx="137160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434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E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BloodCoded  ·  Agentic AI Hackathon  ·  Tech Zephyr 4.0, IIT Bhubaneswar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0916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B3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cogni-flow.streamlit.app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INTERPRETATION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AI tutor makes the same mistake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03520" cy="3200400"/>
          </a:xfrm>
          <a:prstGeom prst="roundRect">
            <a:avLst>
              <a:gd name="adj" fmla="val 1714"/>
            </a:avLst>
          </a:prstGeom>
          <a:solidFill>
            <a:srgbClr val="F3F7FA"/>
          </a:solidFill>
          <a:ln w="9525">
            <a:solidFill>
              <a:srgbClr val="DDE5EC"/>
            </a:solidFill>
            <a:prstDash val="solid"/>
          </a:ln>
          <a:effectLst>
            <a:outerShdw sx="100000" sy="100000" kx="0" ky="0" algn="bl" rotWithShape="0" blurRad="63500" dist="15240" dir="5400000">
              <a:srgbClr val="9FB2C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9164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556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tutors do today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fails a recursion exercise. Twice.</a:t>
            </a:r>
            <a:endParaRPr lang="en-US" sz="1450" dirty="0"/>
          </a:p>
          <a:p>
            <a:pPr algn="l" indent="0" marL="0">
              <a:lnSpc>
                <a:spcPts val="2000"/>
              </a:lnSpc>
              <a:buNone/>
            </a:pPr>
            <a:endParaRPr lang="en-US" sz="14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tutor generates an easier recursion problem.</a:t>
            </a:r>
            <a:endParaRPr lang="en-US" sz="1450" dirty="0"/>
          </a:p>
          <a:p>
            <a:pPr algn="l" indent="0" marL="0">
              <a:lnSpc>
                <a:spcPts val="2000"/>
              </a:lnSpc>
              <a:buNone/>
            </a:pPr>
            <a:endParaRPr lang="en-US" sz="14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fails that too — for exactly the same invisible reason.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36792" y="1371600"/>
            <a:ext cx="5303520" cy="3200400"/>
          </a:xfrm>
          <a:prstGeom prst="roundRect">
            <a:avLst>
              <a:gd name="adj" fmla="val 1714"/>
            </a:avLst>
          </a:prstGeom>
          <a:solidFill>
            <a:srgbClr val="F3F7FA"/>
          </a:solidFill>
          <a:ln w="9525">
            <a:solidFill>
              <a:srgbClr val="DDE5EC"/>
            </a:solidFill>
            <a:prstDash val="solid"/>
          </a:ln>
          <a:effectLst>
            <a:outerShdw sx="100000" sy="100000" kx="0" ky="0" algn="bl" rotWithShape="0" blurRad="63500" dist="15240" dir="5400000">
              <a:srgbClr val="9FB2C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56832" y="1691640"/>
            <a:ext cx="384048" cy="384048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56832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17556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gap actually is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56832" y="233172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 not understand what `return` does when one function calls another.</a:t>
            </a:r>
            <a:endParaRPr lang="en-US" sz="1450" dirty="0"/>
          </a:p>
          <a:p>
            <a:pPr algn="l" indent="0" marL="0">
              <a:lnSpc>
                <a:spcPts val="2000"/>
              </a:lnSpc>
              <a:buNone/>
            </a:pPr>
            <a:endParaRPr lang="en-US" sz="14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functions problem wearing a recursion costume.</a:t>
            </a:r>
            <a:endParaRPr lang="en-US" sz="1450" dirty="0"/>
          </a:p>
          <a:p>
            <a:pPr algn="l" indent="0" marL="0">
              <a:lnSpc>
                <a:spcPts val="2000"/>
              </a:lnSpc>
              <a:buNone/>
            </a:pPr>
            <a:endParaRPr lang="en-US" sz="14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amount of easier recursion reaches it.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92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Difficulty is the wrong axis. The right one is prerequisite structure.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needs an agent, not a prompt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62456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62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3258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0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sequence is not knowable in advance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65506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skill is taught next is computed from live mastery estimates and prerequisite-graph traversal. Nothing is scripted.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8658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235000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0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revises its own model of the world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6791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submission updates a persistent Bayesian belief about the student. That belief changes future decisions — a feedback loop over durable state.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10712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37413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0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reasons about causes, not symptoms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3703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failure triggers a prerequisite investigation and the agent reassigns its own teaching objective.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43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4398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0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genuinely suspends and resumes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078992" y="47274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interrupt() checkpoints to disk and halts. A separate process resumes the same thread minutes later.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proposes. The guard disposes.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47288" cy="2286000"/>
          </a:xfrm>
          <a:prstGeom prst="roundRect">
            <a:avLst>
              <a:gd name="adj" fmla="val 2400"/>
            </a:avLst>
          </a:prstGeom>
          <a:solidFill>
            <a:srgbClr val="F3F7FA"/>
          </a:solidFill>
          <a:ln w="9525">
            <a:solidFill>
              <a:srgbClr val="DDE5EC"/>
            </a:solidFill>
            <a:prstDash val="solid"/>
          </a:ln>
          <a:effectLst>
            <a:outerShdw sx="100000" sy="100000" kx="0" ky="0" algn="bl" rotWithShape="0" blurRad="63500" dist="15240" dir="5400000">
              <a:srgbClr val="9FB2C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27632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82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0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proposes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2898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AdaptationDecision. Constrained enums, never free strings — an out-of-vocabulary action is a validation error, not a silent misroute.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1371600"/>
            <a:ext cx="3447288" cy="2286000"/>
          </a:xfrm>
          <a:prstGeom prst="roundRect">
            <a:avLst>
              <a:gd name="adj" fmla="val 2400"/>
            </a:avLst>
          </a:prstGeom>
          <a:solidFill>
            <a:srgbClr val="F3F7FA"/>
          </a:solidFill>
          <a:ln w="9525">
            <a:solidFill>
              <a:srgbClr val="DDE5EC"/>
            </a:solidFill>
            <a:prstDash val="solid"/>
          </a:ln>
          <a:effectLst>
            <a:outerShdw sx="100000" sy="100000" kx="0" ky="0" algn="bl" rotWithShape="0" blurRad="63500" dist="15240" dir="5400000">
              <a:srgbClr val="9FB2C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627632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102352" y="1682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0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disposes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148840"/>
            <a:ext cx="2898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validation against hard invariants. You may not ADVANCE below mastery 0.6, nor redirect with no unmastered prerequisite.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93024" y="1371600"/>
            <a:ext cx="3447288" cy="2286000"/>
          </a:xfrm>
          <a:prstGeom prst="roundRect">
            <a:avLst>
              <a:gd name="adj" fmla="val 2400"/>
            </a:avLst>
          </a:prstGeom>
          <a:solidFill>
            <a:srgbClr val="F3F7FA"/>
          </a:solidFill>
          <a:ln w="9525">
            <a:solidFill>
              <a:srgbClr val="DDE5EC"/>
            </a:solidFill>
            <a:prstDash val="solid"/>
          </a:ln>
          <a:effectLst>
            <a:outerShdw sx="100000" sy="100000" kx="0" ky="0" algn="bl" rotWithShape="0" blurRad="63500" dist="15240" dir="5400000">
              <a:srgbClr val="9FB2C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67344" y="1627632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67344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924544" y="1682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0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is logged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67344" y="2148840"/>
            <a:ext cx="2898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is a safety property, a measurable metric, and demo reliability at once — the path holds even if the model says something odd on stage.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11091672" cy="1417320"/>
          </a:xfrm>
          <a:prstGeom prst="roundRect">
            <a:avLst>
              <a:gd name="adj" fmla="val 3871"/>
            </a:avLst>
          </a:prstGeom>
          <a:solidFill>
            <a:srgbClr val="EEF4F8"/>
          </a:solidFill>
          <a:ln w="9525">
            <a:solidFill>
              <a:srgbClr val="DDE5EC"/>
            </a:solidFill>
            <a:prstDash val="solid"/>
          </a:ln>
          <a:effectLst>
            <a:outerShdw sx="100000" sy="100000" kx="0" ky="0" algn="bl" rotWithShape="0" blurRad="63500" dist="15240" dir="5400000">
              <a:srgbClr val="9FB2C4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4114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of 11 graph nodes call a model.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4988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Diagnosis, routing, mastery arithmetic and prerequisite selection are deterministic and unit-tested. We do not use an LLM where arithmetic is already correct and free.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→ Decision → Action → Evaluation → Adaptation → Outcome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737360" cy="2148840"/>
          </a:xfrm>
          <a:prstGeom prst="roundRect">
            <a:avLst>
              <a:gd name="adj" fmla="val 3158"/>
            </a:avLst>
          </a:prstGeom>
          <a:solidFill>
            <a:srgbClr val="F3F7FA"/>
          </a:solidFill>
          <a:ln w="9525">
            <a:solidFill>
              <a:srgbClr val="DDE5EC"/>
            </a:solidFill>
            <a:prstDash val="solid"/>
          </a:ln>
          <a:effectLst>
            <a:outerShdw sx="100000" sy="100000" kx="0" ky="0" algn="bl" rotWithShape="0" blurRad="63500" dist="15240" dir="5400000">
              <a:srgbClr val="9FB2C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43584" y="1810512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43584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0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15184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plan_action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target_skill=recursion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14016" y="1600200"/>
            <a:ext cx="1737360" cy="2148840"/>
          </a:xfrm>
          <a:prstGeom prst="roundRect">
            <a:avLst>
              <a:gd name="adj" fmla="val 3158"/>
            </a:avLst>
          </a:prstGeom>
          <a:solidFill>
            <a:srgbClr val="F3F7FA"/>
          </a:solidFill>
          <a:ln w="9525">
            <a:solidFill>
              <a:srgbClr val="DDE5EC"/>
            </a:solidFill>
            <a:prstDash val="solid"/>
          </a:ln>
          <a:effectLst>
            <a:outerShdw sx="100000" sy="100000" kx="0" ky="0" algn="bl" rotWithShape="0" blurRad="63500" dist="15240" dir="5400000">
              <a:srgbClr val="9FB2C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1810512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08960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505456" y="22860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0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505456" y="2615184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proposes, guard rules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79392" y="1600200"/>
            <a:ext cx="1737360" cy="2148840"/>
          </a:xfrm>
          <a:prstGeom prst="roundRect">
            <a:avLst>
              <a:gd name="adj" fmla="val 3158"/>
            </a:avLst>
          </a:prstGeom>
          <a:solidFill>
            <a:srgbClr val="F3F7FA"/>
          </a:solidFill>
          <a:ln w="9525">
            <a:solidFill>
              <a:srgbClr val="DDE5EC"/>
            </a:solidFill>
            <a:prstDash val="solid"/>
          </a:ln>
          <a:effectLst>
            <a:outerShdw sx="100000" sy="100000" kx="0" ky="0" algn="bl" rotWithShape="0" blurRad="63500" dist="15240" dir="5400000">
              <a:srgbClr val="9FB2C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74336" y="1810512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74336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370832" y="22860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0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370832" y="2615184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 → generate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sandboxed execute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44768" y="1600200"/>
            <a:ext cx="1737360" cy="2148840"/>
          </a:xfrm>
          <a:prstGeom prst="roundRect">
            <a:avLst>
              <a:gd name="adj" fmla="val 3158"/>
            </a:avLst>
          </a:prstGeom>
          <a:solidFill>
            <a:srgbClr val="F3F7FA"/>
          </a:solidFill>
          <a:ln w="9525">
            <a:solidFill>
              <a:srgbClr val="DDE5EC"/>
            </a:solidFill>
            <a:prstDash val="solid"/>
          </a:ln>
          <a:effectLst>
            <a:outerShdw sx="100000" sy="100000" kx="0" ky="0" algn="bl" rotWithShape="0" blurRad="63500" dist="15240" dir="5400000">
              <a:srgbClr val="9FB2C4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39712" y="1810512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39712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236208" y="22860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0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236208" y="2615184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update_mastery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0.350 → 0.204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10144" y="1600200"/>
            <a:ext cx="1737360" cy="2148840"/>
          </a:xfrm>
          <a:prstGeom prst="roundRect">
            <a:avLst>
              <a:gd name="adj" fmla="val 3158"/>
            </a:avLst>
          </a:prstGeom>
          <a:solidFill>
            <a:srgbClr val="E7F1F5"/>
          </a:solidFill>
          <a:ln w="9525">
            <a:solidFill>
              <a:srgbClr val="DDE5EC"/>
            </a:solidFill>
            <a:prstDash val="solid"/>
          </a:ln>
          <a:effectLst>
            <a:outerShdw sx="100000" sy="100000" kx="0" ky="0" algn="bl" rotWithShape="0" blurRad="63500" dist="15240" dir="5400000">
              <a:srgbClr val="9FB2C4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05088" y="1810512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05088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101584" y="22860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0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101584" y="2615184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prereq_redirect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recursion → functions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875520" y="1600200"/>
            <a:ext cx="1737360" cy="2148840"/>
          </a:xfrm>
          <a:prstGeom prst="roundRect">
            <a:avLst>
              <a:gd name="adj" fmla="val 3158"/>
            </a:avLst>
          </a:prstGeom>
          <a:solidFill>
            <a:srgbClr val="F3F7FA"/>
          </a:solidFill>
          <a:ln w="9525">
            <a:solidFill>
              <a:srgbClr val="DDE5EC"/>
            </a:solidFill>
            <a:prstDash val="solid"/>
          </a:ln>
          <a:effectLst>
            <a:outerShdw sx="100000" sy="100000" kx="0" ky="0" algn="bl" rotWithShape="0" blurRad="63500" dist="15240" dir="5400000">
              <a:srgbClr val="9FB2C4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570464" y="1810512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570464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966960" y="22860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0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966960" y="2615184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session_end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recursion 0.35 → 0.88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3977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above is a distinct node in the graph, and every line quoted is real output from the live event stream — not narration over slides.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48640" y="457200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FBF1EF"/>
          </a:solidFill>
          <a:ln w="9525">
            <a:solidFill>
              <a:srgbClr val="DDE5EC"/>
            </a:solidFill>
            <a:prstDash val="solid"/>
          </a:ln>
          <a:effectLst>
            <a:outerShdw sx="100000" sy="100000" kx="0" ky="0" algn="bl" rotWithShape="0" blurRad="63500" dist="15240" dir="5400000">
              <a:srgbClr val="9FB2C4">
                <a:alpha val="2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68680" y="4754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to failure is part of the workflow, not an afterthought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68680" y="5074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failure: injected SANDBOX_FAILURE → recovery, mastery untouched   ·   Changing conditions: provider rate-limits mid-run → live failover   ·   Unexpected input: hostile code → EXECUTION_REFUSED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student never pays for our outage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StudentOutcome and SystemFault are disjoint types, and mastery is reachable only from the first. If our infrastructure breaks — a sandbox crash, a model timeout, a refused submission — the student's model does not move. Enforced by the type system, not by a conditional someone has to notice in review.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EDF6F1"/>
          </a:solidFill>
          <a:ln w="9525">
            <a:solidFill>
              <a:srgbClr val="DDE5EC"/>
            </a:solidFill>
            <a:prstDash val="solid"/>
          </a:ln>
          <a:effectLst>
            <a:outerShdw sx="100000" sy="100000" kx="0" ky="0" algn="bl" rotWithShape="0" blurRad="63500" dist="15240" dir="5400000">
              <a:srgbClr val="9FB2C4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7249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StudentOutcome  →  updates mastery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089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 · WRONG_ANSWER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STUDENT_SYNTAX_ERROR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STUDENT_RUNTIME_ERROR · STUDENT_TIMEOUT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2514600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FBF1EF"/>
          </a:solidFill>
          <a:ln w="9525">
            <a:solidFill>
              <a:srgbClr val="DDE5EC"/>
            </a:solidFill>
            <a:prstDash val="solid"/>
          </a:ln>
          <a:effectLst>
            <a:outerShdw sx="100000" sy="100000" kx="0" ky="0" algn="bl" rotWithShape="0" blurRad="63500" dist="15240" dir="5400000">
              <a:srgbClr val="9FB2C4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7249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SystemFault  →  never updates mastery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1089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SANDBOX_FAILURE · LLM_FAILURE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MALFORMED_MODEL_OUTPUT · RETRIEVAL_FAILURE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PERSISTENCE_FAILURE · EXECUTION_REFUSED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ambiguous case, resolved explicitly: a process that started and burned CPU to the wall clock is a student's infinite loop. A container that failed to start is ours. Different types, opposite consequences.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on a cohort with planted gaps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15184" cy="1874520"/>
          </a:xfrm>
          <a:prstGeom prst="roundRect">
            <a:avLst>
              <a:gd name="adj" fmla="val 2927"/>
            </a:avLst>
          </a:prstGeom>
          <a:solidFill>
            <a:srgbClr val="F3F7FA"/>
          </a:solidFill>
          <a:ln w="9525">
            <a:solidFill>
              <a:srgbClr val="DDE5EC"/>
            </a:solidFill>
            <a:prstDash val="solid"/>
          </a:ln>
          <a:effectLst>
            <a:outerShdw sx="100000" sy="100000" kx="0" ky="0" algn="bl" rotWithShape="0" blurRad="63500" dist="15240" dir="5400000">
              <a:srgbClr val="9FB2C4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572768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57.5%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planted prerequisite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found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64992" y="1371600"/>
            <a:ext cx="2615184" cy="1874520"/>
          </a:xfrm>
          <a:prstGeom prst="roundRect">
            <a:avLst>
              <a:gd name="adj" fmla="val 2927"/>
            </a:avLst>
          </a:prstGeom>
          <a:solidFill>
            <a:srgbClr val="F3F7FA"/>
          </a:solidFill>
          <a:ln w="9525">
            <a:solidFill>
              <a:srgbClr val="DDE5EC"/>
            </a:solidFill>
            <a:prstDash val="solid"/>
          </a:ln>
          <a:effectLst>
            <a:outerShdw sx="100000" sy="100000" kx="0" ky="0" algn="bl" rotWithShape="0" blurRad="63500" dist="15240" dir="5400000">
              <a:srgbClr val="9FB2C4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02152" y="1572768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237744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the arm with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skill graph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81344" y="1371600"/>
            <a:ext cx="2615184" cy="1874520"/>
          </a:xfrm>
          <a:prstGeom prst="roundRect">
            <a:avLst>
              <a:gd name="adj" fmla="val 2927"/>
            </a:avLst>
          </a:prstGeom>
          <a:solidFill>
            <a:srgbClr val="F3F7FA"/>
          </a:solidFill>
          <a:ln w="9525">
            <a:solidFill>
              <a:srgbClr val="DDE5EC"/>
            </a:solidFill>
            <a:prstDash val="solid"/>
          </a:ln>
          <a:effectLst>
            <a:outerShdw sx="100000" sy="100000" kx="0" ky="0" algn="bl" rotWithShape="0" blurRad="63500" dist="15240" dir="5400000">
              <a:srgbClr val="9FB2C4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18504" y="1572768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237744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attempts to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mastery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97696" y="1371600"/>
            <a:ext cx="2615184" cy="1874520"/>
          </a:xfrm>
          <a:prstGeom prst="roundRect">
            <a:avLst>
              <a:gd name="adj" fmla="val 2927"/>
            </a:avLst>
          </a:prstGeom>
          <a:solidFill>
            <a:srgbClr val="F3F7FA"/>
          </a:solidFill>
          <a:ln w="9525">
            <a:solidFill>
              <a:srgbClr val="DDE5EC"/>
            </a:solidFill>
            <a:prstDash val="solid"/>
          </a:ln>
          <a:effectLst>
            <a:outerShdw sx="100000" sy="100000" kx="0" ky="0" algn="bl" rotWithShape="0" blurRad="63500" dist="15240" dir="5400000">
              <a:srgbClr val="9FB2C4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34856" y="1572768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5A6B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34856" y="237744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redirects —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25%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20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simulated students. Because we plant the gap, detection is scored exactly — that precision is also why it is not evidence about real learners.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11091672" cy="1417320"/>
          </a:xfrm>
          <a:prstGeom prst="roundRect">
            <a:avLst>
              <a:gd name="adj" fmla="val 3871"/>
            </a:avLst>
          </a:prstGeom>
          <a:solidFill>
            <a:srgbClr val="EEF4F8"/>
          </a:solidFill>
          <a:ln w="9525">
            <a:solidFill>
              <a:srgbClr val="DDE5EC"/>
            </a:solidFill>
            <a:prstDash val="solid"/>
          </a:ln>
          <a:effectLst>
            <a:outerShdw sx="100000" sy="100000" kx="0" ky="0" algn="bl" rotWithShape="0" blurRad="63500" dist="15240" dir="5400000">
              <a:srgbClr val="9FB2C4">
                <a:alpha val="2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8680" y="4279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negative results we kept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6177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BKT parameter fitting did not beat literature defaults on held-out data, so we ship the defaults and say so. Retrieval recall@4 was already 100%, so the reranker was measured and deliberately not built. Reporting a negative is the difference between an ML component and an ML buzzword.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6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 change its mind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student is scripted — what they submit, and when. Every tutoring decision is computed live.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08152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081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6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306324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error. Mastery drops, agent retries a variation. So far, a normal tutor.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8503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3666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6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366674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actual NoneType error, diagnoses an unreturned recursive call, and REASSIGNS ITS OBJECTIVE to functions.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8853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4270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6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Mid-session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4270248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sandbox failure is injected. Mastery does not move.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873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6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487375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mastered, it pops the return stack. Recursion 0.35 → 0.88.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623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E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verifies its own claims: 7/7 self-checks, asserted against the event stream and the database — not against printed text.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NOT CLAIMING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limits, stated rather than hidden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1481328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1371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prototype, not validated on real learners — not for consequential decisions about a person.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219456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0848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 simulated. Exact scoring is possible because the cohort is synthetic, which is also why it is not evidence about real students.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" y="2907792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27980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curriculum: Python fundamentals, eight skills.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" y="3621024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35112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 of students with no gap still get an unnecessary detour. Diagnosis is not free, and we report the cost.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0213A"/>
          </a:solidFill>
          <a:ln w="9525">
            <a:solidFill>
              <a:srgbClr val="DDE5EC"/>
            </a:solidFill>
            <a:prstDash val="solid"/>
          </a:ln>
          <a:effectLst>
            <a:outerShdw sx="100000" sy="100000" kx="0" ky="0" algn="bl" rotWithShape="0" blurRad="63500" dist="15240" dir="5400000">
              <a:srgbClr val="9FB2C4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46817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proposes. The guard disposes.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19379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6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Source, architecture and the measured ablation:  github.com/sohan1611/CogniFlow   ·   Live:  cogni-flow.streamlit.app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CogniFlow</dc:title>
  <dc:subject>PptxGenJS Presentation</dc:subject>
  <dc:creator>Team BloodCoded</dc:creator>
  <cp:lastModifiedBy>Team BloodCoded</cp:lastModifiedBy>
  <cp:revision>1</cp:revision>
  <dcterms:created xsi:type="dcterms:W3CDTF">2026-09-02T20:03:24Z</dcterms:created>
  <dcterms:modified xsi:type="dcterms:W3CDTF">2026-09-02T20:03:24Z</dcterms:modified>
</cp:coreProperties>
</file>